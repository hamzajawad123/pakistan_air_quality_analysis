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ulish"/>
      <p:regular r:id="rId13"/>
      <p:bold r:id="rId14"/>
      <p:italic r:id="rId15"/>
      <p:boldItalic r:id="rId16"/>
    </p:embeddedFont>
    <p:embeddedFont>
      <p:font typeface="Bebas Neue"/>
      <p:regular r:id="rId17"/>
    </p:embeddedFont>
    <p:embeddedFont>
      <p:font typeface="Quicksand"/>
      <p:regular r:id="rId18"/>
      <p:bold r:id="rId19"/>
    </p:embeddedFont>
    <p:embeddedFont>
      <p:font typeface="PT Sans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DMSans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ulish-regular.fntdata"/><Relationship Id="rId12" Type="http://schemas.openxmlformats.org/officeDocument/2006/relationships/slide" Target="slides/slide8.xml"/><Relationship Id="rId15" Type="http://schemas.openxmlformats.org/officeDocument/2006/relationships/font" Target="fonts/Mulish-italic.fntdata"/><Relationship Id="rId14" Type="http://schemas.openxmlformats.org/officeDocument/2006/relationships/font" Target="fonts/Mulish-bold.fntdata"/><Relationship Id="rId17" Type="http://schemas.openxmlformats.org/officeDocument/2006/relationships/font" Target="fonts/BebasNeue-regular.fntdata"/><Relationship Id="rId16" Type="http://schemas.openxmlformats.org/officeDocument/2006/relationships/font" Target="fonts/Mulish-boldItalic.fntdata"/><Relationship Id="rId19" Type="http://schemas.openxmlformats.org/officeDocument/2006/relationships/font" Target="fonts/Quicksand-bold.fntdata"/><Relationship Id="rId18" Type="http://schemas.openxmlformats.org/officeDocument/2006/relationships/font" Target="fonts/Quicks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3f6155f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3f6155f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3f6155f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33f6155f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ed9256fe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ed9256fe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dd46dd1d6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dd46dd1d6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dd46dd1d67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dd46dd1d67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6ef5adba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6ef5adba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9" name="Google Shape;39;p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1" name="Google Shape;41;p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" name="Google Shape;4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" name="Google Shape;61;p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3" name="Google Shape;63;p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6" name="Google Shape;66;p7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2" name="Google Shape;92;p11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0" name="Google Shape;130;p14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0" name="Google Shape;140;p15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1" name="Google Shape;151;p16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6" name="Google Shape;17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1" name="Google Shape;19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1" name="Google Shape;201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4" name="Google Shape;204;p2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6" name="Google Shape;20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8" name="Google Shape;218;p2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23" name="Google Shape;22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1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4" name="Google Shape;244;p22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8" name="Google Shape;258;p23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6" name="Google Shape;266;p24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lt1"/>
                </a:solidFill>
              </a:defRPr>
            </a:lvl1pPr>
            <a:lvl2pPr lvl="1" rtl="0" algn="ctr">
              <a:buNone/>
              <a:defRPr>
                <a:solidFill>
                  <a:schemeClr val="lt1"/>
                </a:solidFill>
              </a:defRPr>
            </a:lvl2pPr>
            <a:lvl3pPr lvl="2" rtl="0" algn="ctr">
              <a:buNone/>
              <a:defRPr>
                <a:solidFill>
                  <a:schemeClr val="lt1"/>
                </a:solidFill>
              </a:defRPr>
            </a:lvl3pPr>
            <a:lvl4pPr lvl="3" rtl="0" algn="ctr">
              <a:buNone/>
              <a:defRPr>
                <a:solidFill>
                  <a:schemeClr val="lt1"/>
                </a:solidFill>
              </a:defRPr>
            </a:lvl4pPr>
            <a:lvl5pPr lvl="4" rtl="0" algn="ctr">
              <a:buNone/>
              <a:defRPr>
                <a:solidFill>
                  <a:schemeClr val="lt1"/>
                </a:solidFill>
              </a:defRPr>
            </a:lvl5pPr>
            <a:lvl6pPr lvl="5" rtl="0" algn="ctr">
              <a:buNone/>
              <a:defRPr>
                <a:solidFill>
                  <a:schemeClr val="lt1"/>
                </a:solidFill>
              </a:defRPr>
            </a:lvl6pPr>
            <a:lvl7pPr lvl="6" rtl="0" algn="ctr">
              <a:buNone/>
              <a:defRPr>
                <a:solidFill>
                  <a:schemeClr val="lt1"/>
                </a:solidFill>
              </a:defRPr>
            </a:lvl7pPr>
            <a:lvl8pPr lvl="7" rtl="0" algn="ctr">
              <a:buNone/>
              <a:defRPr>
                <a:solidFill>
                  <a:schemeClr val="lt1"/>
                </a:solidFill>
              </a:defRPr>
            </a:lvl8pPr>
            <a:lvl9pPr lvl="8" rtl="0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4" name="Google Shape;274;p2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6AA84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0" y="153175"/>
            <a:ext cx="8979025" cy="482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671650" y="565625"/>
            <a:ext cx="81189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Statistical Analysis of Pakistan Air Quality (2024–2025)</a:t>
            </a:r>
            <a:endParaRPr b="1" sz="36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accent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671650" y="2309775"/>
            <a:ext cx="77034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Assessment of Hazardous Smog: A Nationwide Risk Analysis</a:t>
            </a:r>
            <a:endParaRPr i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671650" y="33229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By: Hamza Jawad</a:t>
            </a:r>
            <a:endParaRPr b="1"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10 Feb 2026</a:t>
            </a:r>
            <a:endParaRPr b="1"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Smog Only a Lahore Problem?</a:t>
            </a:r>
            <a:endParaRPr sz="4000">
              <a:solidFill>
                <a:srgbClr val="212121"/>
              </a:solidFill>
            </a:endParaRPr>
          </a:p>
        </p:txBody>
      </p:sp>
      <p:sp>
        <p:nvSpPr>
          <p:cNvPr id="288" name="Google Shape;288;p2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265200" y="1462775"/>
            <a:ext cx="8613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 pollution is a growing public health emergency in Pakistan</a:t>
            </a:r>
            <a:br>
              <a:rPr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Smog is commonly blamed on </a:t>
            </a:r>
            <a:r>
              <a:rPr b="1"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Lahore alone</a:t>
            </a:r>
            <a:br>
              <a:rPr b="1"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data suggests pollution is </a:t>
            </a:r>
            <a:r>
              <a:rPr b="1"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widespread</a:t>
            </a:r>
            <a:br>
              <a:rPr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Misdiagnosis leads to ineffective policy responses</a:t>
            </a:r>
            <a:endParaRPr sz="24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/>
        </p:nvSpPr>
        <p:spPr>
          <a:xfrm>
            <a:off x="606850" y="471350"/>
            <a:ext cx="81129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Nearly Half the Days Are Unsafe</a:t>
            </a:r>
            <a:endParaRPr b="1" sz="4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518475" y="1319750"/>
            <a:ext cx="3375900" cy="30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47.86%</a:t>
            </a: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days exceed safe AQI levels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“Unhealthy” air is a near-daily probability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Citizens face frequent exposure to toxic air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Pollution is not an occasional event</a:t>
            </a: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025" y="1330850"/>
            <a:ext cx="5291575" cy="32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625" y="1248250"/>
            <a:ext cx="5336499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/>
          <p:nvPr/>
        </p:nvSpPr>
        <p:spPr>
          <a:xfrm>
            <a:off x="624525" y="453675"/>
            <a:ext cx="81660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Lahore Is Not an Outlier</a:t>
            </a:r>
            <a:endParaRPr b="1" sz="4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306375" y="1284400"/>
            <a:ext cx="33051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Lahore mean </a:t>
            </a:r>
            <a: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AQI ≈ 246</a:t>
            </a:r>
            <a:b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of Pakistan mean </a:t>
            </a:r>
            <a: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AQI ≈ 247</a:t>
            </a:r>
            <a:b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AQI distributions overlap significantly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Pollution risk is </a:t>
            </a:r>
            <a: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nationally uniform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/>
        </p:nvSpPr>
        <p:spPr>
          <a:xfrm>
            <a:off x="424200" y="406550"/>
            <a:ext cx="82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PM2.5 Is Not the Only Driver</a:t>
            </a:r>
            <a:endParaRPr b="1" sz="4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975" y="1206950"/>
            <a:ext cx="5377724" cy="34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222800" y="1206950"/>
            <a:ext cx="3512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correlation</a:t>
            </a: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b/w PM2.5 and AQI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AQI can’t be explained by PM2.5 alone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contributors likely exist</a:t>
            </a:r>
            <a:b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Pollution sources are multifactorial</a:t>
            </a:r>
            <a:endParaRPr sz="2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450" y="1229825"/>
            <a:ext cx="5207850" cy="35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149700" y="327150"/>
            <a:ext cx="884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Confirms a National Crisis</a:t>
            </a:r>
            <a:endParaRPr b="1" sz="4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254450" y="1229825"/>
            <a:ext cx="35319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No statistical difference</a:t>
            </a:r>
            <a:r>
              <a:rPr lang="en" sz="2000"/>
              <a:t> b/w regions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Lahore and other cities share </a:t>
            </a:r>
            <a:r>
              <a:rPr b="1" lang="en" sz="2000"/>
              <a:t>equal risk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Pollution is </a:t>
            </a:r>
            <a:r>
              <a:rPr b="1" lang="en" sz="2000"/>
              <a:t>not city-specific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National-level</a:t>
            </a:r>
            <a:r>
              <a:rPr lang="en" sz="2000"/>
              <a:t> response is required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/>
        </p:nvSpPr>
        <p:spPr>
          <a:xfrm>
            <a:off x="424200" y="494925"/>
            <a:ext cx="833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4000">
              <a:solidFill>
                <a:srgbClr val="2121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424200" y="1441250"/>
            <a:ext cx="8442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Smog is a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nationwide issue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, not a Lahore-only problem</a:t>
            </a:r>
            <a:b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Nearly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half the days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pose health risks</a:t>
            </a:r>
            <a:b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Pollution levels are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statistically similar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across regions</a:t>
            </a:r>
            <a:b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Current narratives underestimate national exposure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 txBox="1"/>
          <p:nvPr/>
        </p:nvSpPr>
        <p:spPr>
          <a:xfrm>
            <a:off x="424200" y="494925"/>
            <a:ext cx="833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12121"/>
                </a:solidFill>
              </a:rPr>
              <a:t>Recommendations</a:t>
            </a:r>
            <a:endParaRPr b="1" sz="4000">
              <a:solidFill>
                <a:srgbClr val="212121"/>
              </a:solidFill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494850" y="1295325"/>
            <a:ext cx="81543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Implement a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Federal Clean Air Policy</a:t>
            </a:r>
            <a:b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Address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crop burning and industrial emissions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along with PM2.5 reduction</a:t>
            </a:r>
            <a:b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Shift focus from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city-level to national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strategies</a:t>
            </a:r>
            <a:b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Launch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nationwide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AQI alert systems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4DDC5"/>
      </a:lt1>
      <a:dk2>
        <a:srgbClr val="6E8F81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